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731520"/>
          </a:xfrm>
          <a:prstGeom prst="rect">
            <a:avLst/>
          </a:prstGeom>
          <a:noFill/>
          <a:ln/>
        </p:spPr>
        <p:txBody>
          <a:bodyPr wrap="square" rtlCol="0" anchor="ctr"/>
          <a:lstStyle/>
          <a:p>
            <a:pPr algn="l" indent="0" marL="0">
              <a:buNone/>
            </a:pPr>
            <a:r>
              <a:rPr lang="en-US" sz="1200" i="1" dirty="0">
                <a:solidFill>
                  <a:srgbClr val="555555"/>
                </a:solidFill>
                <a:latin typeface="Calibri" pitchFamily="34" charset="0"/>
                <a:ea typeface="Calibri" pitchFamily="34" charset="-122"/>
                <a:cs typeface="Calibri" pitchFamily="34" charset="-120"/>
              </a:rPr>
              <a:t>The Project for Establishment of Human Resource Development</a:t>
            </a:r>
            <a:endParaRPr lang="en-US" sz="1200" dirty="0"/>
          </a:p>
          <a:p>
            <a:pPr algn="l" indent="0" marL="0">
              <a:buNone/>
            </a:pPr>
            <a:r>
              <a:rPr lang="en-US" sz="1200" i="1" dirty="0">
                <a:solidFill>
                  <a:srgbClr val="555555"/>
                </a:solidFill>
                <a:latin typeface="Calibri" pitchFamily="34" charset="0"/>
                <a:ea typeface="Calibri" pitchFamily="34" charset="-122"/>
                <a:cs typeface="Calibri" pitchFamily="34" charset="-120"/>
              </a:rPr>
              <a:t>of Digital Innovative MSMEs in Lao PDR</a:t>
            </a:r>
            <a:endParaRPr lang="en-US" sz="1200" dirty="0"/>
          </a:p>
        </p:txBody>
      </p:sp>
      <p:sp>
        <p:nvSpPr>
          <p:cNvPr id="3" name="Shape 1"/>
          <p:cNvSpPr/>
          <p:nvPr/>
        </p:nvSpPr>
        <p:spPr>
          <a:xfrm>
            <a:off x="457200" y="1188720"/>
            <a:ext cx="8229600" cy="0"/>
          </a:xfrm>
          <a:prstGeom prst="line">
            <a:avLst/>
          </a:prstGeom>
          <a:noFill/>
          <a:ln w="12700">
            <a:solidFill>
              <a:srgbClr val="CCCCCC"/>
            </a:solidFill>
            <a:prstDash val="solid"/>
          </a:ln>
        </p:spPr>
      </p:sp>
      <p:sp>
        <p:nvSpPr>
          <p:cNvPr id="4" name="Text 2"/>
          <p:cNvSpPr/>
          <p:nvPr/>
        </p:nvSpPr>
        <p:spPr>
          <a:xfrm>
            <a:off x="457200" y="1371600"/>
            <a:ext cx="8229600" cy="1097280"/>
          </a:xfrm>
          <a:prstGeom prst="rect">
            <a:avLst/>
          </a:prstGeom>
          <a:noFill/>
          <a:ln/>
        </p:spPr>
        <p:txBody>
          <a:bodyPr wrap="square" rtlCol="0" anchor="ctr"/>
          <a:lstStyle/>
          <a:p>
            <a:pPr algn="l" indent="0" marL="0">
              <a:buNone/>
            </a:pPr>
            <a:r>
              <a:rPr lang="en-US" sz="4000" b="1" dirty="0">
                <a:solidFill>
                  <a:srgbClr val="1C3557"/>
                </a:solidFill>
                <a:latin typeface="Calibri" pitchFamily="34" charset="0"/>
                <a:ea typeface="Calibri" pitchFamily="34" charset="-122"/>
                <a:cs typeface="Calibri" pitchFamily="34" charset="-120"/>
              </a:rPr>
              <a:t>Kauffman FasTrac Certificate Program</a:t>
            </a:r>
            <a:endParaRPr lang="en-US" sz="4000" dirty="0"/>
          </a:p>
        </p:txBody>
      </p:sp>
      <p:sp>
        <p:nvSpPr>
          <p:cNvPr id="5" name="Text 3"/>
          <p:cNvSpPr/>
          <p:nvPr/>
        </p:nvSpPr>
        <p:spPr>
          <a:xfrm>
            <a:off x="457200" y="2514600"/>
            <a:ext cx="8229600" cy="548640"/>
          </a:xfrm>
          <a:prstGeom prst="rect">
            <a:avLst/>
          </a:prstGeom>
          <a:noFill/>
          <a:ln/>
        </p:spPr>
        <p:txBody>
          <a:bodyPr wrap="square" rtlCol="0" anchor="ctr"/>
          <a:lstStyle/>
          <a:p>
            <a:pPr algn="l" indent="0" marL="0">
              <a:buNone/>
            </a:pPr>
            <a:r>
              <a:rPr lang="en-US" sz="1800" dirty="0">
                <a:solidFill>
                  <a:srgbClr val="1A6BAE"/>
                </a:solidFill>
                <a:latin typeface="Calibri" pitchFamily="34" charset="0"/>
                <a:ea typeface="Calibri" pitchFamily="34" charset="-122"/>
                <a:cs typeface="Calibri" pitchFamily="34" charset="-120"/>
              </a:rPr>
              <a:t>6-Month Capacity Building Training Program for Government Officials in Laos</a:t>
            </a:r>
            <a:endParaRPr lang="en-US" sz="1800" dirty="0"/>
          </a:p>
        </p:txBody>
      </p:sp>
      <p:sp>
        <p:nvSpPr>
          <p:cNvPr id="6" name="Text 4"/>
          <p:cNvSpPr/>
          <p:nvPr/>
        </p:nvSpPr>
        <p:spPr>
          <a:xfrm>
            <a:off x="457200" y="4297680"/>
            <a:ext cx="8229600" cy="457200"/>
          </a:xfrm>
          <a:prstGeom prst="rect">
            <a:avLst/>
          </a:prstGeom>
          <a:noFill/>
          <a:ln/>
        </p:spPr>
        <p:txBody>
          <a:bodyPr wrap="square" rtlCol="0" anchor="ctr"/>
          <a:lstStyle/>
          <a:p>
            <a:pPr algn="l" indent="0" marL="0">
              <a:buNone/>
            </a:pPr>
            <a:r>
              <a:rPr lang="en-US" sz="1300" dirty="0">
                <a:solidFill>
                  <a:srgbClr val="777777"/>
                </a:solidFill>
                <a:latin typeface="Calibri" pitchFamily="34" charset="0"/>
                <a:ea typeface="Calibri" pitchFamily="34" charset="-122"/>
                <a:cs typeface="Calibri" pitchFamily="34" charset="-120"/>
              </a:rPr>
              <a:t>Organized by KOICA  ×  Kookmin University (KMU)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algn="l" indent="0" marL="0">
              <a:buNone/>
            </a:pPr>
            <a:r>
              <a:rPr lang="en-US" sz="2800" b="1" dirty="0">
                <a:solidFill>
                  <a:srgbClr val="1C3557"/>
                </a:solidFill>
                <a:latin typeface="Calibri" pitchFamily="34" charset="0"/>
                <a:ea typeface="Calibri" pitchFamily="34" charset="-122"/>
                <a:cs typeface="Calibri" pitchFamily="34" charset="-120"/>
              </a:rPr>
              <a:t>01  Program Overview</a:t>
            </a:r>
            <a:endParaRPr lang="en-US" sz="2800" dirty="0"/>
          </a:p>
        </p:txBody>
      </p:sp>
      <p:sp>
        <p:nvSpPr>
          <p:cNvPr id="3" name="Shape 1"/>
          <p:cNvSpPr/>
          <p:nvPr/>
        </p:nvSpPr>
        <p:spPr>
          <a:xfrm>
            <a:off x="457200" y="914400"/>
            <a:ext cx="8229600" cy="0"/>
          </a:xfrm>
          <a:prstGeom prst="line">
            <a:avLst/>
          </a:prstGeom>
          <a:noFill/>
          <a:ln w="19050">
            <a:solidFill>
              <a:srgbClr val="1C3557"/>
            </a:solidFill>
            <a:prstDash val="solid"/>
          </a:ln>
        </p:spPr>
      </p:sp>
      <p:sp>
        <p:nvSpPr>
          <p:cNvPr id="4" name="Text 2"/>
          <p:cNvSpPr/>
          <p:nvPr/>
        </p:nvSpPr>
        <p:spPr>
          <a:xfrm>
            <a:off x="457200" y="1005840"/>
            <a:ext cx="8229600" cy="1005840"/>
          </a:xfrm>
          <a:prstGeom prst="rect">
            <a:avLst/>
          </a:prstGeom>
          <a:noFill/>
          <a:ln/>
        </p:spPr>
        <p:txBody>
          <a:bodyPr wrap="square" rtlCol="0" anchor="t"/>
          <a:lstStyle/>
          <a:p>
            <a:pPr algn="l" indent="0" marL="0">
              <a:buNone/>
            </a:pPr>
            <a:r>
              <a:rPr lang="en-US" sz="1400" dirty="0">
                <a:solidFill>
                  <a:srgbClr val="2E3A4A"/>
                </a:solidFill>
                <a:latin typeface="Calibri" pitchFamily="34" charset="0"/>
                <a:ea typeface="Calibri" pitchFamily="34" charset="-122"/>
                <a:cs typeface="Calibri" pitchFamily="34" charset="-120"/>
              </a:rPr>
              <a:t>A 6-month intensive capacity building program that equips Lao government officials and educators with entrepreneurship education competencies through the globally proven Kauffman FasTrac PEV (Planning Entrepreneurial Venture) framework, transforming participants into certified startup and MSME consultants.</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8229600" cy="914400"/>
        </p:xfrm>
        <a:graphic>
          <a:graphicData uri="http://schemas.openxmlformats.org/drawingml/2006/table">
            <a:tbl>
              <a:tblPr/>
              <a:tblGrid>
                <a:gridCol w="2286000"/>
                <a:gridCol w="5943600"/>
              </a:tblGrid>
              <a:tr h="0">
                <a:tc>
                  <a:txBody>
                    <a:bodyPr/>
                    <a:lstStyle/>
                    <a:p>
                      <a:pPr indent="0" marL="0">
                        <a:buNone/>
                      </a:pPr>
                      <a:r>
                        <a:rPr lang="en-US" sz="1200" b="1" dirty="0">
                          <a:solidFill>
                            <a:srgbClr val="1C3557"/>
                          </a:solidFill>
                        </a:rPr>
                        <a:t>Duration</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dirty="0">
                          <a:solidFill>
                            <a:srgbClr val="2E3A4A"/>
                          </a:solidFill>
                        </a:rPr>
                        <a:t>6 Months (in Korea)</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b="1" dirty="0">
                          <a:solidFill>
                            <a:srgbClr val="1C3557"/>
                          </a:solidFill>
                        </a:rPr>
                        <a:t>Language</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dirty="0">
                          <a:solidFill>
                            <a:srgbClr val="2E3A4A"/>
                          </a:solidFill>
                        </a:rPr>
                        <a:t>English</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b="1" dirty="0">
                          <a:solidFill>
                            <a:srgbClr val="1C3557"/>
                          </a:solidFill>
                        </a:rPr>
                        <a:t>Location</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dirty="0">
                          <a:solidFill>
                            <a:srgbClr val="2E3A4A"/>
                          </a:solidFill>
                        </a:rPr>
                        <a:t>Kookmin University (KMU), Seoul, Korea</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b="1" dirty="0">
                          <a:solidFill>
                            <a:srgbClr val="1C3557"/>
                          </a:solidFill>
                        </a:rPr>
                        <a:t>Target</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dirty="0">
                          <a:solidFill>
                            <a:srgbClr val="2E3A4A"/>
                          </a:solidFill>
                        </a:rPr>
                        <a:t>Government officials from MSMEPA/MOIC and Commerce College professors/lecturers</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algn="l" indent="0" marL="0">
              <a:buNone/>
            </a:pPr>
            <a:r>
              <a:rPr lang="en-US" sz="2800" b="1" dirty="0">
                <a:solidFill>
                  <a:srgbClr val="1C3557"/>
                </a:solidFill>
                <a:latin typeface="Calibri" pitchFamily="34" charset="0"/>
                <a:ea typeface="Calibri" pitchFamily="34" charset="-122"/>
                <a:cs typeface="Calibri" pitchFamily="34" charset="-120"/>
              </a:rPr>
              <a:t>02  Program Objectives</a:t>
            </a:r>
            <a:endParaRPr lang="en-US" sz="2800" dirty="0"/>
          </a:p>
        </p:txBody>
      </p:sp>
      <p:sp>
        <p:nvSpPr>
          <p:cNvPr id="3" name="Shape 1"/>
          <p:cNvSpPr/>
          <p:nvPr/>
        </p:nvSpPr>
        <p:spPr>
          <a:xfrm>
            <a:off x="457200" y="914400"/>
            <a:ext cx="8229600" cy="0"/>
          </a:xfrm>
          <a:prstGeom prst="line">
            <a:avLst/>
          </a:prstGeom>
          <a:noFill/>
          <a:ln w="19050">
            <a:solidFill>
              <a:srgbClr val="1C3557"/>
            </a:solidFill>
            <a:prstDash val="solid"/>
          </a:ln>
        </p:spPr>
      </p:sp>
      <p:sp>
        <p:nvSpPr>
          <p:cNvPr id="4" name="Text 2"/>
          <p:cNvSpPr/>
          <p:nvPr/>
        </p:nvSpPr>
        <p:spPr>
          <a:xfrm>
            <a:off x="457200" y="1005840"/>
            <a:ext cx="8229600" cy="3840480"/>
          </a:xfrm>
          <a:prstGeom prst="rect">
            <a:avLst/>
          </a:prstGeom>
          <a:noFill/>
          <a:ln/>
        </p:spPr>
        <p:txBody>
          <a:bodyPr wrap="square" rtlCol="0" anchor="t"/>
          <a:lstStyle/>
          <a:p>
            <a:pPr indent="0" marL="0">
              <a:buNone/>
            </a:pPr>
            <a:r>
              <a:rPr lang="en-US" sz="1300" b="1" dirty="0">
                <a:solidFill>
                  <a:srgbClr val="1A6BAE"/>
                </a:solidFill>
                <a:latin typeface="Calibri" pitchFamily="34" charset="0"/>
                <a:ea typeface="Calibri" pitchFamily="34" charset="-122"/>
                <a:cs typeface="Calibri" pitchFamily="34" charset="-120"/>
              </a:rPr>
              <a:t>1.  </a:t>
            </a:r>
            <a:pPr indent="0" marL="0">
              <a:buNone/>
            </a:pPr>
            <a:r>
              <a:rPr lang="en-US" sz="1300" dirty="0">
                <a:solidFill>
                  <a:srgbClr val="2E3A4A"/>
                </a:solidFill>
                <a:latin typeface="Calibri" pitchFamily="34" charset="0"/>
                <a:ea typeface="Calibri" pitchFamily="34" charset="-122"/>
                <a:cs typeface="Calibri" pitchFamily="34" charset="-120"/>
              </a:rPr>
              <a:t>Leverage the Kauffman FasTrac PEV program — operated for 20+ years by the world's largest entrepreneurship foundation — to support the sustainable growth of startups and MSMEs in Laos.
</a:t>
            </a:r>
            <a:endParaRPr lang="en-US" sz="1300" dirty="0"/>
          </a:p>
          <a:p>
            <a:pPr indent="0" marL="0">
              <a:buNone/>
            </a:pPr>
            <a:r>
              <a:rPr lang="en-US" sz="1300" b="1" dirty="0">
                <a:solidFill>
                  <a:srgbClr val="1A6BAE"/>
                </a:solidFill>
                <a:latin typeface="Calibri" pitchFamily="34" charset="0"/>
                <a:ea typeface="Calibri" pitchFamily="34" charset="-122"/>
                <a:cs typeface="Calibri" pitchFamily="34" charset="-120"/>
              </a:rPr>
              <a:t>2.  </a:t>
            </a:r>
            <a:pPr indent="0" marL="0">
              <a:buNone/>
            </a:pPr>
            <a:r>
              <a:rPr lang="en-US" sz="1300" dirty="0">
                <a:solidFill>
                  <a:srgbClr val="2E3A4A"/>
                </a:solidFill>
                <a:latin typeface="Calibri" pitchFamily="34" charset="0"/>
                <a:ea typeface="Calibri" pitchFamily="34" charset="-122"/>
                <a:cs typeface="Calibri" pitchFamily="34" charset="-120"/>
              </a:rPr>
              <a:t>Build capacity to discover and nurture outstanding technologies, and cultivate competitive startups and globally competent entrepreneurs.
</a:t>
            </a:r>
            <a:endParaRPr lang="en-US" sz="1300" dirty="0"/>
          </a:p>
          <a:p>
            <a:pPr indent="0" marL="0">
              <a:buNone/>
            </a:pPr>
            <a:r>
              <a:rPr lang="en-US" sz="1300" b="1" dirty="0">
                <a:solidFill>
                  <a:srgbClr val="1A6BAE"/>
                </a:solidFill>
                <a:latin typeface="Calibri" pitchFamily="34" charset="0"/>
                <a:ea typeface="Calibri" pitchFamily="34" charset="-122"/>
                <a:cs typeface="Calibri" pitchFamily="34" charset="-120"/>
              </a:rPr>
              <a:t>3.  </a:t>
            </a:r>
            <a:pPr indent="0" marL="0">
              <a:buNone/>
            </a:pPr>
            <a:r>
              <a:rPr lang="en-US" sz="1300" dirty="0">
                <a:solidFill>
                  <a:srgbClr val="2E3A4A"/>
                </a:solidFill>
                <a:latin typeface="Calibri" pitchFamily="34" charset="0"/>
                <a:ea typeface="Calibri" pitchFamily="34" charset="-122"/>
                <a:cs typeface="Calibri" pitchFamily="34" charset="-120"/>
              </a:rPr>
              <a:t>Develop accelerators who can effectively connect with early-stage funding and international startup ecosystems.
</a:t>
            </a:r>
            <a:endParaRPr lang="en-US" sz="1300" dirty="0"/>
          </a:p>
          <a:p>
            <a:pPr indent="0" marL="0">
              <a:buNone/>
            </a:pPr>
            <a:r>
              <a:rPr lang="en-US" sz="1300" b="1" dirty="0">
                <a:solidFill>
                  <a:srgbClr val="1A6BAE"/>
                </a:solidFill>
                <a:latin typeface="Calibri" pitchFamily="34" charset="0"/>
                <a:ea typeface="Calibri" pitchFamily="34" charset="-122"/>
                <a:cs typeface="Calibri" pitchFamily="34" charset="-120"/>
              </a:rPr>
              <a:t>4.  </a:t>
            </a:r>
            <a:pPr indent="0" marL="0">
              <a:buNone/>
            </a:pPr>
            <a:r>
              <a:rPr lang="en-US" sz="1300" dirty="0">
                <a:solidFill>
                  <a:srgbClr val="2E3A4A"/>
                </a:solidFill>
                <a:latin typeface="Calibri" pitchFamily="34" charset="0"/>
                <a:ea typeface="Calibri" pitchFamily="34" charset="-122"/>
                <a:cs typeface="Calibri" pitchFamily="34" charset="-120"/>
              </a:rPr>
              <a:t>Establish a hands-on, experiential learning system that allows participants to go through the startup process in detail and gain practical startup experience.
</a:t>
            </a:r>
            <a:endParaRPr lang="en-US" sz="1300" dirty="0"/>
          </a:p>
          <a:p>
            <a:pPr indent="0" marL="0">
              <a:buNone/>
            </a:pPr>
            <a:r>
              <a:rPr lang="en-US" sz="1300" b="1" dirty="0">
                <a:solidFill>
                  <a:srgbClr val="1A6BAE"/>
                </a:solidFill>
                <a:latin typeface="Calibri" pitchFamily="34" charset="0"/>
                <a:ea typeface="Calibri" pitchFamily="34" charset="-122"/>
                <a:cs typeface="Calibri" pitchFamily="34" charset="-120"/>
              </a:rPr>
              <a:t>5.  </a:t>
            </a:r>
            <a:pPr indent="0" marL="0">
              <a:buNone/>
            </a:pPr>
            <a:r>
              <a:rPr lang="en-US" sz="1300" dirty="0">
                <a:solidFill>
                  <a:srgbClr val="2E3A4A"/>
                </a:solidFill>
                <a:latin typeface="Calibri" pitchFamily="34" charset="0"/>
                <a:ea typeface="Calibri" pitchFamily="34" charset="-122"/>
                <a:cs typeface="Calibri" pitchFamily="34" charset="-120"/>
              </a:rPr>
              <a:t>Foster certified startup and MSME consultants who can train others and strengthen institutional capacity in Laos.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algn="l" indent="0" marL="0">
              <a:buNone/>
            </a:pPr>
            <a:r>
              <a:rPr lang="en-US" sz="2800" b="1" dirty="0">
                <a:solidFill>
                  <a:srgbClr val="1C3557"/>
                </a:solidFill>
                <a:latin typeface="Calibri" pitchFamily="34" charset="0"/>
                <a:ea typeface="Calibri" pitchFamily="34" charset="-122"/>
                <a:cs typeface="Calibri" pitchFamily="34" charset="-120"/>
              </a:rPr>
              <a:t>03  Key Components &amp; Program Structure</a:t>
            </a:r>
            <a:endParaRPr lang="en-US" sz="2800" dirty="0"/>
          </a:p>
        </p:txBody>
      </p:sp>
      <p:sp>
        <p:nvSpPr>
          <p:cNvPr id="3" name="Shape 1"/>
          <p:cNvSpPr/>
          <p:nvPr/>
        </p:nvSpPr>
        <p:spPr>
          <a:xfrm>
            <a:off x="457200" y="914400"/>
            <a:ext cx="8229600" cy="0"/>
          </a:xfrm>
          <a:prstGeom prst="line">
            <a:avLst/>
          </a:prstGeom>
          <a:noFill/>
          <a:ln w="19050">
            <a:solidFill>
              <a:srgbClr val="1C3557"/>
            </a:solidFill>
            <a:prstDash val="solid"/>
          </a:ln>
        </p:spPr>
      </p:sp>
      <p:sp>
        <p:nvSpPr>
          <p:cNvPr id="4" name="Text 2"/>
          <p:cNvSpPr/>
          <p:nvPr/>
        </p:nvSpPr>
        <p:spPr>
          <a:xfrm>
            <a:off x="457200" y="960120"/>
            <a:ext cx="8229600" cy="320040"/>
          </a:xfrm>
          <a:prstGeom prst="rect">
            <a:avLst/>
          </a:prstGeom>
          <a:noFill/>
          <a:ln/>
        </p:spPr>
        <p:txBody>
          <a:bodyPr wrap="square" rtlCol="0" anchor="ctr"/>
          <a:lstStyle/>
          <a:p>
            <a:pPr algn="l" indent="0" marL="0">
              <a:buNone/>
            </a:pPr>
            <a:r>
              <a:rPr lang="en-US" sz="1200" i="1" dirty="0">
                <a:solidFill>
                  <a:srgbClr val="1A6BAE"/>
                </a:solidFill>
                <a:latin typeface="Calibri" pitchFamily="34" charset="0"/>
                <a:ea typeface="Calibri" pitchFamily="34" charset="-122"/>
                <a:cs typeface="Calibri" pitchFamily="34" charset="-120"/>
              </a:rPr>
              <a:t>Workshop-based · Scenario-driven · Project-centered  (not a lecture-only program)</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1828800"/>
                <a:gridCol w="4389120"/>
                <a:gridCol w="2011680"/>
              </a:tblGrid>
              <a:tr h="0">
                <a:tc>
                  <a:txBody>
                    <a:bodyPr/>
                    <a:lstStyle/>
                    <a:p>
                      <a:pPr indent="0" marL="0">
                        <a:buNone/>
                      </a:pPr>
                      <a:r>
                        <a:rPr lang="en-US" sz="1200" b="1" dirty="0">
                          <a:solidFill>
                            <a:srgbClr val="FFFFFF"/>
                          </a:solidFill>
                        </a:rPr>
                        <a:t>Component</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C3557"/>
                    </a:solidFill>
                  </a:tcPr>
                </a:tc>
                <a:tc>
                  <a:txBody>
                    <a:bodyPr/>
                    <a:lstStyle/>
                    <a:p>
                      <a:pPr indent="0" marL="0">
                        <a:buNone/>
                      </a:pPr>
                      <a:r>
                        <a:rPr lang="en-US" sz="1200" b="1" dirty="0">
                          <a:solidFill>
                            <a:srgbClr val="FFFFFF"/>
                          </a:solidFill>
                        </a:rPr>
                        <a:t>Content</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C3557"/>
                    </a:solidFill>
                  </a:tcPr>
                </a:tc>
                <a:tc>
                  <a:txBody>
                    <a:bodyPr/>
                    <a:lstStyle/>
                    <a:p>
                      <a:pPr indent="0" marL="0">
                        <a:buNone/>
                      </a:pPr>
                      <a:r>
                        <a:rPr lang="en-US" sz="1200" b="1" dirty="0">
                          <a:solidFill>
                            <a:srgbClr val="FFFFFF"/>
                          </a:solidFill>
                        </a:rPr>
                        <a:t>Format</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C3557"/>
                    </a:solidFill>
                  </a:tcPr>
                </a:tc>
              </a:tr>
              <a:tr h="0">
                <a:tc>
                  <a:txBody>
                    <a:bodyPr/>
                    <a:lstStyle/>
                    <a:p>
                      <a:pPr indent="0" marL="0">
                        <a:buNone/>
                      </a:pPr>
                      <a:r>
                        <a:rPr lang="en-US" sz="1100" b="1" dirty="0">
                          <a:solidFill>
                            <a:srgbClr val="1C3557"/>
                          </a:solidFill>
                        </a:rPr>
                        <a:t>PEV Lecture</a:t>
                      </a:r>
                      <a:endParaRPr lang="en-US" sz="1100" dirty="0"/>
                    </a:p>
                    <a:p>
                      <a:pPr indent="0" marL="0">
                        <a:buNone/>
                      </a:pPr>
                      <a:r>
                        <a:rPr lang="en-US" sz="1100" b="1" dirty="0">
                          <a:solidFill>
                            <a:srgbClr val="1C3557"/>
                          </a:solidFill>
                        </a:rPr>
                        <a:t>(Day 1 · 3hrs)</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E3A4A"/>
                          </a:solidFill>
                        </a:rPr>
                        <a:t>Weekly PEV framework modules: Opportunity Recognition → Business Concept → Market Planning → Financial Planning → Business Plan</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E3A4A"/>
                          </a:solidFill>
                        </a:rPr>
                        <a:t>Interactive lecture &amp; scenario-based discussion</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b="1" dirty="0">
                          <a:solidFill>
                            <a:srgbClr val="1C3557"/>
                          </a:solidFill>
                        </a:rPr>
                        <a:t>Field Trip /</a:t>
                      </a:r>
                      <a:endParaRPr lang="en-US" sz="1100" dirty="0"/>
                    </a:p>
                    <a:p>
                      <a:pPr indent="0" marL="0">
                        <a:buNone/>
                      </a:pPr>
                      <a:r>
                        <a:rPr lang="en-US" sz="1100" b="1" dirty="0">
                          <a:solidFill>
                            <a:srgbClr val="1C3557"/>
                          </a:solidFill>
                        </a:rPr>
                        <a:t>Guest Speaker</a:t>
                      </a:r>
                      <a:endParaRPr lang="en-US" sz="1100" dirty="0"/>
                    </a:p>
                    <a:p>
                      <a:pPr indent="0" marL="0">
                        <a:buNone/>
                      </a:pPr>
                      <a:r>
                        <a:rPr lang="en-US" sz="1100" b="1" dirty="0">
                          <a:solidFill>
                            <a:srgbClr val="1C3557"/>
                          </a:solidFill>
                        </a:rPr>
                        <a:t>(Day 2 · 3hrs)</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E3A4A"/>
                          </a:solidFill>
                        </a:rPr>
                        <a:t>Asan Nanum Foundation, D.Camp, TIPS Town, Startup Alliance, KaKao, Xplore Investment, Korean Society of Business Venturing &amp; Entrepreneurship</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E3A4A"/>
                          </a:solidFill>
                        </a:rPr>
                        <a:t>On-site visits &amp; guest lectures from startup ecosystem leaders</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b="1" dirty="0">
                          <a:solidFill>
                            <a:srgbClr val="1C3557"/>
                          </a:solidFill>
                        </a:rPr>
                        <a:t>Team Project</a:t>
                      </a:r>
                      <a:endParaRPr lang="en-US" sz="1100" dirty="0"/>
                    </a:p>
                    <a:p>
                      <a:pPr indent="0" marL="0">
                        <a:buNone/>
                      </a:pPr>
                      <a:r>
                        <a:rPr lang="en-US" sz="1100" b="1" dirty="0">
                          <a:solidFill>
                            <a:srgbClr val="1C3557"/>
                          </a:solidFill>
                        </a:rPr>
                        <a:t>(Day 3 · 3hrs)</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E3A4A"/>
                          </a:solidFill>
                        </a:rPr>
                        <a:t>Collaborative business plan development applying each week's module; culminating in Grand IR Pitching at Week 18</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E3A4A"/>
                          </a:solidFill>
                        </a:rPr>
                        <a:t>Project-centered teamwork &amp; presentation</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b="1" dirty="0">
                          <a:solidFill>
                            <a:srgbClr val="1C3557"/>
                          </a:solidFill>
                        </a:rPr>
                        <a:t>Assessment</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E3A4A"/>
                          </a:solidFill>
                        </a:rPr>
                        <a:t>Mid-term Exam (Week 9)  ·  Final Presentation (Week 17)  ·  Grand IR Pitching (Week 18)</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E3A4A"/>
                          </a:solidFill>
                        </a:rPr>
                        <a:t>Total 18 weeks · 3 sessions/week</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algn="l" indent="0" marL="0">
              <a:buNone/>
            </a:pPr>
            <a:r>
              <a:rPr lang="en-US" sz="2800" b="1" dirty="0">
                <a:solidFill>
                  <a:srgbClr val="1C3557"/>
                </a:solidFill>
                <a:latin typeface="Calibri" pitchFamily="34" charset="0"/>
                <a:ea typeface="Calibri" pitchFamily="34" charset="-122"/>
                <a:cs typeface="Calibri" pitchFamily="34" charset="-120"/>
              </a:rPr>
              <a:t>04  Kauffman PEV Framework</a:t>
            </a:r>
            <a:endParaRPr lang="en-US" sz="2800" dirty="0"/>
          </a:p>
        </p:txBody>
      </p:sp>
      <p:sp>
        <p:nvSpPr>
          <p:cNvPr id="3" name="Shape 1"/>
          <p:cNvSpPr/>
          <p:nvPr/>
        </p:nvSpPr>
        <p:spPr>
          <a:xfrm>
            <a:off x="457200" y="914400"/>
            <a:ext cx="8229600" cy="0"/>
          </a:xfrm>
          <a:prstGeom prst="line">
            <a:avLst/>
          </a:prstGeom>
          <a:noFill/>
          <a:ln w="19050">
            <a:solidFill>
              <a:srgbClr val="1C3557"/>
            </a:solidFill>
            <a:prstDash val="solid"/>
          </a:ln>
        </p:spPr>
      </p:sp>
      <p:sp>
        <p:nvSpPr>
          <p:cNvPr id="4" name="Text 2"/>
          <p:cNvSpPr/>
          <p:nvPr/>
        </p:nvSpPr>
        <p:spPr>
          <a:xfrm>
            <a:off x="457200" y="1005840"/>
            <a:ext cx="5029200" cy="384048"/>
          </a:xfrm>
          <a:prstGeom prst="rect">
            <a:avLst/>
          </a:prstGeom>
          <a:noFill/>
          <a:ln/>
        </p:spPr>
        <p:txBody>
          <a:bodyPr wrap="square" rtlCol="0" anchor="ctr"/>
          <a:lstStyle/>
          <a:p>
            <a:pPr algn="l" indent="0" marL="0">
              <a:buNone/>
            </a:pPr>
            <a:r>
              <a:rPr lang="en-US" sz="1500" b="1" dirty="0">
                <a:solidFill>
                  <a:srgbClr val="1A6BAE"/>
                </a:solidFill>
                <a:latin typeface="Calibri" pitchFamily="34" charset="0"/>
                <a:ea typeface="Calibri" pitchFamily="34" charset="-122"/>
                <a:cs typeface="Calibri" pitchFamily="34" charset="-120"/>
              </a:rPr>
              <a:t>PEV — Planning Entrepreneurial Venture</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5029200" cy="914400"/>
        </p:xfrm>
        <a:graphic>
          <a:graphicData uri="http://schemas.openxmlformats.org/drawingml/2006/table">
            <a:tbl>
              <a:tblPr/>
              <a:tblGrid>
                <a:gridCol w="1463040"/>
                <a:gridCol w="3566160"/>
              </a:tblGrid>
              <a:tr h="0">
                <a:tc>
                  <a:txBody>
                    <a:bodyPr/>
                    <a:lstStyle/>
                    <a:p>
                      <a:pPr indent="0" marL="0">
                        <a:buNone/>
                      </a:pPr>
                      <a:r>
                        <a:rPr lang="en-US" sz="1200" b="1" dirty="0">
                          <a:solidFill>
                            <a:srgbClr val="1C3557"/>
                          </a:solidFill>
                        </a:rPr>
                        <a:t>What is PEV?</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dirty="0">
                          <a:solidFill>
                            <a:srgbClr val="2E3A4A"/>
                          </a:solidFill>
                        </a:rPr>
                        <a:t>Planning Entrepreneurial Venture is a structured, practical curriculum that guides participants through every stage of building a startup — from recognizing opportunities to pitching to investors.</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C3557"/>
                          </a:solidFill>
                        </a:rPr>
                        <a:t>Curriculum Flow</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2E3A4A"/>
                          </a:solidFill>
                        </a:rPr>
                        <a:t>Opportunity Recognition → Business Concept → Feasibility → Product/Service → Market Analysis → Financial Planning → Business Plan → IR Pitching</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C3557"/>
                          </a:solidFill>
                        </a:rPr>
                        <a:t>Learning Design</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dirty="0">
                          <a:solidFill>
                            <a:srgbClr val="2E3A4A"/>
                          </a:solidFill>
                        </a:rPr>
                        <a:t>Scenario-based and project-centered. Participants work in teams throughout to develop a real business plan. NOT a lecture-only program — hands-on workshops are the core.</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C3557"/>
                          </a:solidFill>
                        </a:rPr>
                        <a:t>Certification</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2E3A4A"/>
                          </a:solidFill>
                        </a:rPr>
                        <a:t>Graduates receive the Kauffman FasTrac Certificate, an internationally recognized credential in entrepreneurship education.</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Text 3"/>
          <p:cNvSpPr/>
          <p:nvPr/>
        </p:nvSpPr>
        <p:spPr>
          <a:xfrm>
            <a:off x="5669280" y="1005840"/>
            <a:ext cx="3108960" cy="384048"/>
          </a:xfrm>
          <a:prstGeom prst="rect">
            <a:avLst/>
          </a:prstGeom>
          <a:noFill/>
          <a:ln/>
        </p:spPr>
        <p:txBody>
          <a:bodyPr wrap="square" rtlCol="0" anchor="ctr"/>
          <a:lstStyle/>
          <a:p>
            <a:pPr algn="l" indent="0" marL="0">
              <a:buNone/>
            </a:pPr>
            <a:r>
              <a:rPr lang="en-US" sz="1500" b="1" dirty="0">
                <a:solidFill>
                  <a:srgbClr val="1A6BAE"/>
                </a:solidFill>
                <a:latin typeface="Calibri" pitchFamily="34" charset="0"/>
                <a:ea typeface="Calibri" pitchFamily="34" charset="-122"/>
                <a:cs typeface="Calibri" pitchFamily="34" charset="-120"/>
              </a:rPr>
              <a:t>About the Kauffman Foundation</a:t>
            </a:r>
            <a:endParaRPr lang="en-US" sz="15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669280" y="1417320"/>
          <a:ext cx="3063240" cy="914400"/>
        </p:xfrm>
        <a:graphic>
          <a:graphicData uri="http://schemas.openxmlformats.org/drawingml/2006/table">
            <a:tbl>
              <a:tblPr/>
              <a:tblGrid>
                <a:gridCol w="1097280"/>
                <a:gridCol w="1965960"/>
              </a:tblGrid>
              <a:tr h="0">
                <a:tc>
                  <a:txBody>
                    <a:bodyPr/>
                    <a:lstStyle/>
                    <a:p>
                      <a:pPr indent="0" marL="0">
                        <a:buNone/>
                      </a:pPr>
                      <a:r>
                        <a:rPr lang="en-US" sz="1200" b="1" dirty="0">
                          <a:solidFill>
                            <a:srgbClr val="1C3557"/>
                          </a:solidFill>
                        </a:rPr>
                        <a:t>Founded</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dirty="0">
                          <a:solidFill>
                            <a:srgbClr val="2E3A4A"/>
                          </a:solidFill>
                        </a:rPr>
                        <a:t>Ewing Marion Kauffman Foundation, headquartered in Kansas City, USA</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C3557"/>
                          </a:solidFill>
                        </a:rPr>
                        <a:t>Mission</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2E3A4A"/>
                          </a:solidFill>
                        </a:rPr>
                        <a:t>Enable everyone to achieve success as an entrepreneur through education, research, and access to resources</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C3557"/>
                          </a:solidFill>
                        </a:rPr>
                        <a:t>Track Record</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dirty="0">
                          <a:solidFill>
                            <a:srgbClr val="2E3A4A"/>
                          </a:solidFill>
                        </a:rPr>
                        <a:t>20+ years operating FasTrac globally; trained entrepreneurs across 30+ countries</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r>
              <a:tr h="0">
                <a:tc>
                  <a:txBody>
                    <a:bodyPr/>
                    <a:lstStyle/>
                    <a:p>
                      <a:pPr indent="0" marL="0">
                        <a:buNone/>
                      </a:pPr>
                      <a:r>
                        <a:rPr lang="en-US" sz="1200" b="1" dirty="0">
                          <a:solidFill>
                            <a:srgbClr val="1C3557"/>
                          </a:solidFill>
                        </a:rPr>
                        <a:t>Why Kauffman?</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2E3A4A"/>
                          </a:solidFill>
                        </a:rPr>
                        <a:t>World's largest entrepreneurship foundation — globally trusted, evidence-based framework bridging theory and practice</a:t>
                      </a:r>
                      <a:endParaRPr lang="en-US" sz="1200" dirty="0"/>
                    </a:p>
                  </a:txBody>
                  <a:tcPr marL="88900" marR="88900" marT="63500" marB="63500" anchor="t">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algn="l" indent="0" marL="0">
              <a:buNone/>
            </a:pPr>
            <a:r>
              <a:rPr lang="en-US" sz="2800" b="1" dirty="0">
                <a:solidFill>
                  <a:srgbClr val="1C3557"/>
                </a:solidFill>
                <a:latin typeface="Calibri" pitchFamily="34" charset="0"/>
                <a:ea typeface="Calibri" pitchFamily="34" charset="-122"/>
                <a:cs typeface="Calibri" pitchFamily="34" charset="-120"/>
              </a:rPr>
              <a:t>05  Expected Outcomes</a:t>
            </a:r>
            <a:endParaRPr lang="en-US" sz="2800" dirty="0"/>
          </a:p>
        </p:txBody>
      </p:sp>
      <p:sp>
        <p:nvSpPr>
          <p:cNvPr id="3" name="Shape 1"/>
          <p:cNvSpPr/>
          <p:nvPr/>
        </p:nvSpPr>
        <p:spPr>
          <a:xfrm>
            <a:off x="457200" y="914400"/>
            <a:ext cx="8229600" cy="0"/>
          </a:xfrm>
          <a:prstGeom prst="line">
            <a:avLst/>
          </a:prstGeom>
          <a:noFill/>
          <a:ln w="19050">
            <a:solidFill>
              <a:srgbClr val="1C3557"/>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365760"/>
                <a:gridCol w="2560320"/>
                <a:gridCol w="5303520"/>
              </a:tblGrid>
              <a:tr h="0">
                <a:tc>
                  <a:txBody>
                    <a:bodyPr/>
                    <a:lstStyle/>
                    <a:p>
                      <a:pPr algn="ctr" indent="0" marL="0">
                        <a:buNone/>
                      </a:pPr>
                      <a:r>
                        <a:rPr lang="en-US" sz="1400" b="1" dirty="0">
                          <a:solidFill>
                            <a:srgbClr val="FFFFFF"/>
                          </a:solidFill>
                        </a:rPr>
                        <a:t>1</a:t>
                      </a:r>
                      <a:endParaRPr lang="en-US" sz="1400" dirty="0"/>
                    </a:p>
                  </a:txBody>
                  <a:tcPr marL="101600" marR="1016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C3557"/>
                    </a:solidFill>
                  </a:tcPr>
                </a:tc>
                <a:tc>
                  <a:txBody>
                    <a:bodyPr/>
                    <a:lstStyle/>
                    <a:p>
                      <a:pPr indent="0" marL="0">
                        <a:buNone/>
                      </a:pPr>
                      <a:r>
                        <a:rPr lang="en-US" sz="1200" b="1" dirty="0">
                          <a:solidFill>
                            <a:srgbClr val="1C3557"/>
                          </a:solidFill>
                        </a:rPr>
                        <a:t>Kauffman FasTrac Certification</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100" dirty="0">
                          <a:solidFill>
                            <a:srgbClr val="2E3A4A"/>
                          </a:solidFill>
                        </a:rPr>
                        <a:t>Participants earn an internationally recognized Kauffman FasTrac Certificate, validating their entrepreneurship education competency upon successful completion.</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r>
              <a:tr h="0">
                <a:tc>
                  <a:txBody>
                    <a:bodyPr/>
                    <a:lstStyle/>
                    <a:p>
                      <a:pPr algn="ctr" indent="0" marL="0">
                        <a:buNone/>
                      </a:pPr>
                      <a:r>
                        <a:rPr lang="en-US" sz="1400" b="1" dirty="0">
                          <a:solidFill>
                            <a:srgbClr val="FFFFFF"/>
                          </a:solidFill>
                        </a:rPr>
                        <a:t>2</a:t>
                      </a:r>
                      <a:endParaRPr lang="en-US" sz="1400" dirty="0"/>
                    </a:p>
                  </a:txBody>
                  <a:tcPr marL="101600" marR="1016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C3557"/>
                    </a:solidFill>
                  </a:tcPr>
                </a:tc>
                <a:tc>
                  <a:txBody>
                    <a:bodyPr/>
                    <a:lstStyle/>
                    <a:p>
                      <a:pPr indent="0" marL="0">
                        <a:buNone/>
                      </a:pPr>
                      <a:r>
                        <a:rPr lang="en-US" sz="1200" b="1" dirty="0">
                          <a:solidFill>
                            <a:srgbClr val="1C3557"/>
                          </a:solidFill>
                        </a:rPr>
                        <a:t>Investor-Ready Business Plans</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E3A4A"/>
                          </a:solidFill>
                        </a:rPr>
                        <a:t>Each team produces a full business plan — from concept and market analysis to financial modeling — and presents it through a Grand IR Pitching to investors and stakeholders.</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ctr" indent="0" marL="0">
                        <a:buNone/>
                      </a:pPr>
                      <a:r>
                        <a:rPr lang="en-US" sz="1400" b="1" dirty="0">
                          <a:solidFill>
                            <a:srgbClr val="FFFFFF"/>
                          </a:solidFill>
                        </a:rPr>
                        <a:t>3</a:t>
                      </a:r>
                      <a:endParaRPr lang="en-US" sz="1400" dirty="0"/>
                    </a:p>
                  </a:txBody>
                  <a:tcPr marL="101600" marR="1016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C3557"/>
                    </a:solidFill>
                  </a:tcPr>
                </a:tc>
                <a:tc>
                  <a:txBody>
                    <a:bodyPr/>
                    <a:lstStyle/>
                    <a:p>
                      <a:pPr indent="0" marL="0">
                        <a:buNone/>
                      </a:pPr>
                      <a:r>
                        <a:rPr lang="en-US" sz="1200" b="1" dirty="0">
                          <a:solidFill>
                            <a:srgbClr val="1C3557"/>
                          </a:solidFill>
                        </a:rPr>
                        <a:t>Korean Startup Ecosystem Network</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100" dirty="0">
                          <a:solidFill>
                            <a:srgbClr val="2E3A4A"/>
                          </a:solidFill>
                        </a:rPr>
                        <a:t>Participants build direct connections with leading Korean startup organizations: D.Camp, TIPS Town, KaKao, Asan Nanum Foundation, Startup Alliance, and Xplore Investment.</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r>
              <a:tr h="0">
                <a:tc>
                  <a:txBody>
                    <a:bodyPr/>
                    <a:lstStyle/>
                    <a:p>
                      <a:pPr algn="ctr" indent="0" marL="0">
                        <a:buNone/>
                      </a:pPr>
                      <a:r>
                        <a:rPr lang="en-US" sz="1400" b="1" dirty="0">
                          <a:solidFill>
                            <a:srgbClr val="FFFFFF"/>
                          </a:solidFill>
                        </a:rPr>
                        <a:t>4</a:t>
                      </a:r>
                      <a:endParaRPr lang="en-US" sz="1400" dirty="0"/>
                    </a:p>
                  </a:txBody>
                  <a:tcPr marL="101600" marR="1016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C3557"/>
                    </a:solidFill>
                  </a:tcPr>
                </a:tc>
                <a:tc>
                  <a:txBody>
                    <a:bodyPr/>
                    <a:lstStyle/>
                    <a:p>
                      <a:pPr indent="0" marL="0">
                        <a:buNone/>
                      </a:pPr>
                      <a:r>
                        <a:rPr lang="en-US" sz="1200" b="1" dirty="0">
                          <a:solidFill>
                            <a:srgbClr val="1C3557"/>
                          </a:solidFill>
                        </a:rPr>
                        <a:t>Certified MSME Consultants for Laos</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2E3A4A"/>
                          </a:solidFill>
                        </a:rPr>
                        <a:t>Graduates return as multipliers — qualified to train others and strengthen MSME support infrastructure at MSMEPA/MOIC and Commerce College in Laos.</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r>
              <a:tr h="0">
                <a:tc>
                  <a:txBody>
                    <a:bodyPr/>
                    <a:lstStyle/>
                    <a:p>
                      <a:pPr algn="ctr" indent="0" marL="0">
                        <a:buNone/>
                      </a:pPr>
                      <a:r>
                        <a:rPr lang="en-US" sz="1400" b="1" dirty="0">
                          <a:solidFill>
                            <a:srgbClr val="FFFFFF"/>
                          </a:solidFill>
                        </a:rPr>
                        <a:t>5</a:t>
                      </a:r>
                      <a:endParaRPr lang="en-US" sz="1400" dirty="0"/>
                    </a:p>
                  </a:txBody>
                  <a:tcPr marL="101600" marR="101600" marT="50800" marB="508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C3557"/>
                    </a:solidFill>
                  </a:tcPr>
                </a:tc>
                <a:tc>
                  <a:txBody>
                    <a:bodyPr/>
                    <a:lstStyle/>
                    <a:p>
                      <a:pPr indent="0" marL="0">
                        <a:buNone/>
                      </a:pPr>
                      <a:r>
                        <a:rPr lang="en-US" sz="1200" b="1" dirty="0">
                          <a:solidFill>
                            <a:srgbClr val="1C3557"/>
                          </a:solidFill>
                        </a:rPr>
                        <a:t>Entrepreneurship Policy Competency</a:t>
                      </a:r>
                      <a:endParaRPr lang="en-US" sz="12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100" dirty="0">
                          <a:solidFill>
                            <a:srgbClr val="2E3A4A"/>
                          </a:solidFill>
                        </a:rPr>
                        <a:t>Enhanced capacity to design and evaluate MSME support programs, startup ecosystem policies, and digital innovation strategies in the Lao context.</a:t>
                      </a:r>
                      <a:endParaRPr lang="en-US" sz="1100" dirty="0"/>
                    </a:p>
                  </a:txBody>
                  <a:tcPr marL="101600" marR="101600" marT="50800" marB="508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algn="l" indent="0" marL="0">
              <a:buNone/>
            </a:pPr>
            <a:r>
              <a:rPr lang="en-US" sz="2800" b="1" dirty="0">
                <a:solidFill>
                  <a:srgbClr val="1C3557"/>
                </a:solidFill>
                <a:latin typeface="Calibri" pitchFamily="34" charset="0"/>
                <a:ea typeface="Calibri" pitchFamily="34" charset="-122"/>
                <a:cs typeface="Calibri" pitchFamily="34" charset="-120"/>
              </a:rPr>
              <a:t>06  Collaborating Organizations</a:t>
            </a:r>
            <a:endParaRPr lang="en-US" sz="2800" dirty="0"/>
          </a:p>
        </p:txBody>
      </p:sp>
      <p:sp>
        <p:nvSpPr>
          <p:cNvPr id="3" name="Shape 1"/>
          <p:cNvSpPr/>
          <p:nvPr/>
        </p:nvSpPr>
        <p:spPr>
          <a:xfrm>
            <a:off x="457200" y="914400"/>
            <a:ext cx="8229600" cy="0"/>
          </a:xfrm>
          <a:prstGeom prst="line">
            <a:avLst/>
          </a:prstGeom>
          <a:noFill/>
          <a:ln w="19050">
            <a:solidFill>
              <a:srgbClr val="1C3557"/>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645920"/>
                <a:gridCol w="2926080"/>
                <a:gridCol w="3657600"/>
              </a:tblGrid>
              <a:tr h="0">
                <a:tc>
                  <a:txBody>
                    <a:bodyPr/>
                    <a:lstStyle/>
                    <a:p>
                      <a:pPr algn="ctr" indent="0" marL="0">
                        <a:buNone/>
                      </a:pPr>
                      <a:r>
                        <a:rPr lang="en-US" sz="1200" b="1" dirty="0">
                          <a:solidFill>
                            <a:srgbClr val="FFFFFF"/>
                          </a:solidFill>
                        </a:rPr>
                        <a:t>Category</a:t>
                      </a:r>
                      <a:endParaRPr lang="en-US" sz="1200" dirty="0"/>
                    </a:p>
                  </a:txBody>
                  <a:tcPr marL="101600" marR="101600" marT="63500" marB="635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C3557"/>
                    </a:solidFill>
                  </a:tcPr>
                </a:tc>
                <a:tc>
                  <a:txBody>
                    <a:bodyPr/>
                    <a:lstStyle/>
                    <a:p>
                      <a:pPr algn="ctr" indent="0" marL="0">
                        <a:buNone/>
                      </a:pPr>
                      <a:r>
                        <a:rPr lang="en-US" sz="1200" b="1" dirty="0">
                          <a:solidFill>
                            <a:srgbClr val="FFFFFF"/>
                          </a:solidFill>
                        </a:rPr>
                        <a:t>Organization</a:t>
                      </a:r>
                      <a:endParaRPr lang="en-US" sz="1200" dirty="0"/>
                    </a:p>
                  </a:txBody>
                  <a:tcPr marL="101600" marR="101600" marT="63500" marB="635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C3557"/>
                    </a:solidFill>
                  </a:tcPr>
                </a:tc>
                <a:tc>
                  <a:txBody>
                    <a:bodyPr/>
                    <a:lstStyle/>
                    <a:p>
                      <a:pPr algn="ctr" indent="0" marL="0">
                        <a:buNone/>
                      </a:pPr>
                      <a:r>
                        <a:rPr lang="en-US" sz="1200" b="1" dirty="0">
                          <a:solidFill>
                            <a:srgbClr val="FFFFFF"/>
                          </a:solidFill>
                        </a:rPr>
                        <a:t>Role</a:t>
                      </a:r>
                      <a:endParaRPr lang="en-US" sz="1200" dirty="0"/>
                    </a:p>
                  </a:txBody>
                  <a:tcPr marL="101600" marR="101600" marT="63500" marB="635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C3557"/>
                    </a:solidFill>
                  </a:tcPr>
                </a:tc>
              </a:tr>
              <a:tr h="0">
                <a:tc>
                  <a:txBody>
                    <a:bodyPr/>
                    <a:lstStyle/>
                    <a:p>
                      <a:pPr algn="ctr" indent="0" marL="0">
                        <a:buNone/>
                      </a:pPr>
                      <a:r>
                        <a:rPr lang="en-US" sz="1200" b="1" dirty="0">
                          <a:solidFill>
                            <a:srgbClr val="1C3557"/>
                          </a:solidFill>
                        </a:rPr>
                        <a:t>Lead Agency</a:t>
                      </a:r>
                      <a:endParaRPr lang="en-US" sz="1200" dirty="0"/>
                    </a:p>
                  </a:txBody>
                  <a:tcPr marL="101600" marR="101600" marT="63500" marB="635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b="1" dirty="0">
                          <a:solidFill>
                            <a:srgbClr val="1C3557"/>
                          </a:solidFill>
                        </a:rPr>
                        <a:t>KOICA</a:t>
                      </a:r>
                      <a:endParaRPr lang="en-US" sz="1200" dirty="0"/>
                    </a:p>
                    <a:p>
                      <a:pPr indent="0" marL="0">
                        <a:buNone/>
                      </a:pPr>
                      <a:r>
                        <a:rPr lang="en-US" sz="1200" b="1" dirty="0">
                          <a:solidFill>
                            <a:srgbClr val="1C3557"/>
                          </a:solidFill>
                        </a:rPr>
                        <a:t>(Korea International Cooperation Agency)</a:t>
                      </a:r>
                      <a:endParaRPr lang="en-US" sz="1200" dirty="0"/>
                    </a:p>
                  </a:txBody>
                  <a:tcPr marL="101600" marR="101600" marT="63500" marB="635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dirty="0">
                          <a:solidFill>
                            <a:srgbClr val="2E3A4A"/>
                          </a:solidFill>
                        </a:rPr>
                        <a:t>Principal donor &amp; project oversight under Korea's ODA framework</a:t>
                      </a:r>
                      <a:endParaRPr lang="en-US" sz="1200" dirty="0"/>
                    </a:p>
                  </a:txBody>
                  <a:tcPr marL="101600" marR="101600" marT="63500" marB="635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r>
              <a:tr h="0">
                <a:tc>
                  <a:txBody>
                    <a:bodyPr/>
                    <a:lstStyle/>
                    <a:p>
                      <a:pPr algn="ctr" indent="0" marL="0">
                        <a:buNone/>
                      </a:pPr>
                      <a:r>
                        <a:rPr lang="en-US" sz="1200" b="1" dirty="0">
                          <a:solidFill>
                            <a:srgbClr val="1C3557"/>
                          </a:solidFill>
                        </a:rPr>
                        <a:t>Implementing</a:t>
                      </a:r>
                      <a:endParaRPr lang="en-US" sz="1200" dirty="0"/>
                    </a:p>
                    <a:p>
                      <a:pPr algn="ctr" indent="0" marL="0">
                        <a:buNone/>
                      </a:pPr>
                      <a:r>
                        <a:rPr lang="en-US" sz="1200" b="1" dirty="0">
                          <a:solidFill>
                            <a:srgbClr val="1C3557"/>
                          </a:solidFill>
                        </a:rPr>
                        <a:t>Institution</a:t>
                      </a:r>
                      <a:endParaRPr lang="en-US" sz="1200" dirty="0"/>
                    </a:p>
                  </a:txBody>
                  <a:tcPr marL="101600" marR="101600" marT="63500" marB="635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1C3557"/>
                          </a:solidFill>
                        </a:rPr>
                        <a:t>Kookmin University (KMU) &amp;</a:t>
                      </a:r>
                      <a:endParaRPr lang="en-US" sz="1200" dirty="0"/>
                    </a:p>
                    <a:p>
                      <a:pPr indent="0" marL="0">
                        <a:buNone/>
                      </a:pPr>
                      <a:r>
                        <a:rPr lang="en-US" sz="1200" b="1" dirty="0">
                          <a:solidFill>
                            <a:srgbClr val="1C3557"/>
                          </a:solidFill>
                        </a:rPr>
                        <a:t>Global Development Cooperation Institute (GDCI)</a:t>
                      </a:r>
                      <a:endParaRPr lang="en-US" sz="1200" dirty="0"/>
                    </a:p>
                  </a:txBody>
                  <a:tcPr marL="101600" marR="101600" marT="63500" marB="635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E3A4A"/>
                          </a:solidFill>
                        </a:rPr>
                        <a:t>Lead institution for program design and delivery of the Kauffman FasTrac PEV program</a:t>
                      </a:r>
                      <a:endParaRPr lang="en-US" sz="1200" dirty="0"/>
                    </a:p>
                  </a:txBody>
                  <a:tcPr marL="101600" marR="101600" marT="63500" marB="635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algn="ctr" indent="0" marL="0">
                        <a:buNone/>
                      </a:pPr>
                      <a:r>
                        <a:rPr lang="en-US" sz="1200" b="1" dirty="0">
                          <a:solidFill>
                            <a:srgbClr val="1C3557"/>
                          </a:solidFill>
                        </a:rPr>
                        <a:t>Curriculum</a:t>
                      </a:r>
                      <a:endParaRPr lang="en-US" sz="1200" dirty="0"/>
                    </a:p>
                    <a:p>
                      <a:pPr algn="ctr" indent="0" marL="0">
                        <a:buNone/>
                      </a:pPr>
                      <a:r>
                        <a:rPr lang="en-US" sz="1200" b="1" dirty="0">
                          <a:solidFill>
                            <a:srgbClr val="1C3557"/>
                          </a:solidFill>
                        </a:rPr>
                        <a:t>Provider</a:t>
                      </a:r>
                      <a:endParaRPr lang="en-US" sz="1200" dirty="0"/>
                    </a:p>
                  </a:txBody>
                  <a:tcPr marL="101600" marR="101600" marT="63500" marB="635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b="1" dirty="0">
                          <a:solidFill>
                            <a:srgbClr val="1C3557"/>
                          </a:solidFill>
                        </a:rPr>
                        <a:t>Kauffman Foundation</a:t>
                      </a:r>
                      <a:endParaRPr lang="en-US" sz="1200" dirty="0"/>
                    </a:p>
                    <a:p>
                      <a:pPr indent="0" marL="0">
                        <a:buNone/>
                      </a:pPr>
                      <a:r>
                        <a:rPr lang="en-US" sz="1200" b="1" dirty="0">
                          <a:solidFill>
                            <a:srgbClr val="1C3557"/>
                          </a:solidFill>
                        </a:rPr>
                        <a:t>(Ewing Marion Kauffman Foundation, USA)</a:t>
                      </a:r>
                      <a:endParaRPr lang="en-US" sz="1200" dirty="0"/>
                    </a:p>
                  </a:txBody>
                  <a:tcPr marL="101600" marR="101600" marT="63500" marB="635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dirty="0">
                          <a:solidFill>
                            <a:srgbClr val="2E3A4A"/>
                          </a:solidFill>
                        </a:rPr>
                        <a:t>Provider of the FasTrac PEV curriculum framework and global certification system</a:t>
                      </a:r>
                      <a:endParaRPr lang="en-US" sz="1200" dirty="0"/>
                    </a:p>
                  </a:txBody>
                  <a:tcPr marL="101600" marR="101600" marT="63500" marB="635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r>
              <a:tr h="0">
                <a:tc>
                  <a:txBody>
                    <a:bodyPr/>
                    <a:lstStyle/>
                    <a:p>
                      <a:pPr algn="ctr" indent="0" marL="0">
                        <a:buNone/>
                      </a:pPr>
                      <a:r>
                        <a:rPr lang="en-US" sz="1200" b="1" dirty="0">
                          <a:solidFill>
                            <a:srgbClr val="1C3557"/>
                          </a:solidFill>
                        </a:rPr>
                        <a:t>Lao PDR</a:t>
                      </a:r>
                      <a:endParaRPr lang="en-US" sz="1200" dirty="0"/>
                    </a:p>
                    <a:p>
                      <a:pPr algn="ctr" indent="0" marL="0">
                        <a:buNone/>
                      </a:pPr>
                      <a:r>
                        <a:rPr lang="en-US" sz="1200" b="1" dirty="0">
                          <a:solidFill>
                            <a:srgbClr val="1C3557"/>
                          </a:solidFill>
                        </a:rPr>
                        <a:t>Counterpart</a:t>
                      </a:r>
                      <a:endParaRPr lang="en-US" sz="1200" dirty="0"/>
                    </a:p>
                  </a:txBody>
                  <a:tcPr marL="101600" marR="101600" marT="63500" marB="635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1C3557"/>
                          </a:solidFill>
                        </a:rPr>
                        <a:t>MSMEPA / MOIC</a:t>
                      </a:r>
                      <a:endParaRPr lang="en-US" sz="1200" dirty="0"/>
                    </a:p>
                    <a:p>
                      <a:pPr indent="0" marL="0">
                        <a:buNone/>
                      </a:pPr>
                      <a:r>
                        <a:rPr lang="en-US" sz="1200" b="1" dirty="0">
                          <a:solidFill>
                            <a:srgbClr val="1C3557"/>
                          </a:solidFill>
                        </a:rPr>
                        <a:t>(Ministry of Commerce, Industry and Investment)</a:t>
                      </a:r>
                      <a:endParaRPr lang="en-US" sz="1200" dirty="0"/>
                    </a:p>
                  </a:txBody>
                  <a:tcPr marL="101600" marR="101600" marT="63500" marB="635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E3A4A"/>
                          </a:solidFill>
                        </a:rPr>
                        <a:t>Principal Lao counterpart for MSME policy; nominates and manages participant candidates</a:t>
                      </a:r>
                      <a:endParaRPr lang="en-US" sz="1200" dirty="0"/>
                    </a:p>
                  </a:txBody>
                  <a:tcPr marL="101600" marR="101600" marT="63500" marB="635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endParaRPr lang="en-US" sz="1200" dirty="0"/>
                    </a:p>
                  </a:txBody>
                  <a:tcPr marL="101600" marR="101600" marT="63500" marB="635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b="1" dirty="0">
                          <a:solidFill>
                            <a:srgbClr val="1C3557"/>
                          </a:solidFill>
                        </a:rPr>
                        <a:t>Commerce College,</a:t>
                      </a:r>
                      <a:endParaRPr lang="en-US" sz="1200" dirty="0"/>
                    </a:p>
                    <a:p>
                      <a:pPr indent="0" marL="0">
                        <a:buNone/>
                      </a:pPr>
                      <a:r>
                        <a:rPr lang="en-US" sz="1200" b="1" dirty="0">
                          <a:solidFill>
                            <a:srgbClr val="1C3557"/>
                          </a:solidFill>
                        </a:rPr>
                        <a:t>Lao National University</a:t>
                      </a:r>
                      <a:endParaRPr lang="en-US" sz="1200" dirty="0"/>
                    </a:p>
                  </a:txBody>
                  <a:tcPr marL="101600" marR="101600" marT="63500" marB="635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c>
                  <a:txBody>
                    <a:bodyPr/>
                    <a:lstStyle/>
                    <a:p>
                      <a:pPr indent="0" marL="0">
                        <a:buNone/>
                      </a:pPr>
                      <a:r>
                        <a:rPr lang="en-US" sz="1200" dirty="0">
                          <a:solidFill>
                            <a:srgbClr val="2E3A4A"/>
                          </a:solidFill>
                        </a:rPr>
                        <a:t>Academic counterpart providing faculty participants to build institutional training capacity in Laos</a:t>
                      </a:r>
                      <a:endParaRPr lang="en-US" sz="1200" dirty="0"/>
                    </a:p>
                  </a:txBody>
                  <a:tcPr marL="101600" marR="101600" marT="63500" marB="635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3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Kauffman FasTrac Certificate Program</dc:title>
  <dc:subject>PptxGenJS Presentation</dc:subject>
  <dc:creator>PptxGenJS</dc:creator>
  <cp:lastModifiedBy>PptxGenJS</cp:lastModifiedBy>
  <cp:revision>1</cp:revision>
  <dcterms:created xsi:type="dcterms:W3CDTF">2026-04-07T09:49:50Z</dcterms:created>
  <dcterms:modified xsi:type="dcterms:W3CDTF">2026-04-07T09:49:50Z</dcterms:modified>
</cp:coreProperties>
</file>